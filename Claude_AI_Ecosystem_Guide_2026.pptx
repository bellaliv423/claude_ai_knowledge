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2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731520" cy="635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Claude AI 생태계 완전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A7756"/>
                </a:solidFill>
                <a:latin typeface="맑은 고딕"/>
              </a:defRPr>
            </a:pPr>
            <a:r>
              <a:t>입문부터 고급 활용까지 — Code · Web · Desktop · Cowork · OpenClaw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7B"/>
                </a:solidFill>
                <a:latin typeface="맑은 고딕"/>
              </a:defRPr>
            </a:pPr>
            <a:r>
              <a:t>2026년 2월 최신판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Made by Bella (OZKIZ) + Claude Opus 4.6  |  Anthropic Claude 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274320" cy="27432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920" y="1579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Claude 생태계 한눈에 보기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920" y="1945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Claude AI (Web)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920" y="2311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Claude Code (CLI)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51760"/>
            <a:ext cx="274320" cy="27432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920" y="2677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Claude Desktop &amp; Cowork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017520"/>
            <a:ext cx="274320" cy="27432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920" y="3042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Remote Control (NEW!)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383280"/>
            <a:ext cx="274320" cy="27432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920" y="3408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제품별 비교표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749040"/>
            <a:ext cx="274320" cy="2743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920" y="3774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OpenClaw — 실행형 AI 에이전트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155448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3320" y="1579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OpenClaw 카카오톡 연동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1920240"/>
            <a:ext cx="274320" cy="27432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3320" y="1945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자동화 활용 — 입문자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2286000"/>
            <a:ext cx="274320" cy="27432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3320" y="2311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자동화 활용 — 중급/고급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2651760"/>
            <a:ext cx="274320" cy="27432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3320" y="2677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결합 활용 맵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3017520"/>
            <a:ext cx="274320" cy="2743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3320" y="3042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프롬프트 팁 &amp; 베스트 프랙티스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338328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3320" y="3408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4A"/>
                </a:solidFill>
                <a:latin typeface="맑은 고딕"/>
              </a:defRPr>
            </a:pPr>
            <a:r>
              <a:t>비용 &amp; 시작 가이드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508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Claude 생태계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7B"/>
                </a:solidFill>
                <a:latin typeface="맑은 고딕"/>
              </a:defRPr>
            </a:pPr>
            <a:r>
              <a:t>Anthropic이 만든 AI 어시스턴트 Claude — 다양한 형태로 만나보세요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11680" cy="34747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011680" cy="762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463040" cy="32004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가장 기본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Claude AI</a:t>
            </a:r>
            <a:br/>
            <a:r>
              <a:t>(Web)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claude.ai에서</a:t>
            </a:r>
            <a:br/>
            <a:r>
              <a:t>브라우저로 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03120"/>
            <a:ext cx="2011680" cy="34747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103120"/>
            <a:ext cx="2011680" cy="762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377440"/>
            <a:ext cx="1463040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개발자용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터미널 기반</a:t>
            </a:r>
            <a:br/>
            <a:r>
              <a:t>AI 코딩 에이전트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03120"/>
            <a:ext cx="2011680" cy="34747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103120"/>
            <a:ext cx="2011680" cy="762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377440"/>
            <a:ext cx="1463040" cy="32004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데스크톱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26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Desktop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PC 앱에서</a:t>
            </a:r>
            <a:br/>
            <a:r>
              <a:t>AI와 작업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103120"/>
            <a:ext cx="2011680" cy="34747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2103120"/>
            <a:ext cx="2011680" cy="762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0" y="2377440"/>
            <a:ext cx="1463040" cy="32004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업무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926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Cowork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실제 업무 도구와</a:t>
            </a:r>
            <a:br/>
            <a:r>
              <a:t>직접 연동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103120"/>
            <a:ext cx="2011680" cy="34747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2103120"/>
            <a:ext cx="2011680" cy="762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2377440"/>
            <a:ext cx="1463040" cy="32004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자가호스팅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926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Open</a:t>
            </a:r>
            <a:br/>
            <a:r>
              <a:t>Claw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내 PC에서 24/7</a:t>
            </a:r>
            <a:br/>
            <a:r>
              <a:t>AI 비서 운영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모든 제품은 동일한 Claude AI 모델 (Opus 4.6 / Sonnet 4.6 / Haiku 4.5)을 기반으로 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Claude 생태계 관계도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3200400"/>
            <a:ext cx="1645920" cy="164592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3657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Claude AI</a:t>
            </a:r>
            <a:br/>
            <a:r>
              <a:t>모델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1097280"/>
            <a:ext cx="1188720" cy="11887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3716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Claude.ai</a:t>
            </a:r>
            <a:br/>
            <a:r>
              <a:t>(Web/App)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097280"/>
            <a:ext cx="1188720" cy="11887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3716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 Code</a:t>
            </a:r>
            <a:br/>
            <a:r>
              <a:t>(CLI)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114800"/>
            <a:ext cx="1188720" cy="118872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3891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Desktop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4114800"/>
            <a:ext cx="1188720" cy="118872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3891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Cowork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5486400"/>
            <a:ext cx="1188720" cy="118872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57607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OpenClaw</a:t>
            </a:r>
            <a:br/>
            <a:r>
              <a:t>(자가호스팅)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8DEF"/>
                </a:solidFill>
                <a:latin typeface="맑은 고딕"/>
              </a:defRPr>
            </a:pPr>
            <a:r>
              <a:t>브라우저 접속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맑은 고딕"/>
              </a:defRPr>
            </a:pPr>
            <a:r>
              <a:t>터미널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72CF"/>
                </a:solidFill>
                <a:latin typeface="맑은 고딕"/>
              </a:defRPr>
            </a:pPr>
            <a:r>
              <a:t>네이티브 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14A"/>
                </a:solidFill>
                <a:latin typeface="맑은 고딕"/>
              </a:defRPr>
            </a:pPr>
            <a:r>
              <a:t>업무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A7756"/>
                </a:solidFill>
                <a:latin typeface="맑은 고딕"/>
              </a:defRPr>
            </a:pPr>
            <a:r>
              <a:t>메신저 기반 24/7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Claude AI (Web)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8DEF"/>
                </a:solidFill>
                <a:latin typeface="맑은 고딕"/>
              </a:defRPr>
            </a:pPr>
            <a:r>
              <a:t>claude.ai  |  가장 쉽게 시작하는 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635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대화형 AI 어시스턴트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Projects로 컨텍스트 관리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파일 업로드 &amp; 분석 (PDF, 이미지 등)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Artifacts (코드, 문서, 차트 생성)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Web Search (실시간 정보 검색)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Claude.ai/code (웹 기반 코딩)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MCP 서버 연결 (Notion, Figma 등)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모바일 앱 (iOS / Android)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474720" cy="635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이런 분에게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AI를 처음 사용하는 입문자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빠른 질문 &amp; 답변이 필요할 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문서 요약 / 번역이 필요할 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코드 없이 AI를 활용하고 싶을 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팀 협업이 필요할 때 (Team 플랜)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Tip: Projects에 자주 쓰는 지시사항을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저장하면 매번 반복 입력 불필요!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828800"/>
            <a:ext cx="3200400" cy="635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구독 플랜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6888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Free — 무료, 제한적 사용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Pro — $20/월, 5x 더 많은 사용량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Max — $100/월, 20x 사용량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Max+ — $200/월, 무제한에 가까움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Team — $25/인/월, 팀 협업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Enterprise — 맞춤형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Max 이상: Remote Control 사용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371600" cy="508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Claude Code (CLI)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B0"/>
                </a:solidFill>
                <a:latin typeface="맑은 고딕"/>
              </a:defRPr>
            </a:pPr>
            <a:r>
              <a:t>터미널에서 직접 코딩하는 AI 에이전트  |  npm install -g @anthropic-ai/claude-code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8288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맑은 고딕"/>
              </a:defRPr>
            </a:pPr>
            <a:r>
              <a:t>코드 읽기 &amp; 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프로젝트 전체를 이해하고</a:t>
            </a:r>
            <a:br/>
            <a:r>
              <a:t>코드를 직접 수정합니다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651760" cy="18288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51760" cy="635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8DEF"/>
                </a:solidFill>
                <a:latin typeface="맑은 고딕"/>
              </a:defRPr>
            </a:pPr>
            <a:r>
              <a:t>Git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커밋, PR 생성, 이슈 관리를</a:t>
            </a:r>
            <a:br/>
            <a:r>
              <a:t>자동으로 처리합니다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651760" cy="18288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651760" cy="635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72CF"/>
                </a:solidFill>
                <a:latin typeface="맑은 고딕"/>
              </a:defRPr>
            </a:pPr>
            <a:r>
              <a:t>터미널 명령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빌드, 테스트, 배포 등</a:t>
            </a:r>
            <a:br/>
            <a:r>
              <a:t>쉘 명령을 직접 실행합니다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651760" cy="18288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651760" cy="635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914A"/>
                </a:solidFill>
                <a:latin typeface="맑은 고딕"/>
              </a:defRPr>
            </a:pPr>
            <a:r>
              <a:t>MCP 서버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외부 도구와 연결하여</a:t>
            </a:r>
            <a:br/>
            <a:r>
              <a:t>확장된 기능을 사용합니다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10972800" cy="246888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맑은 고딕"/>
              </a:defRPr>
            </a:pPr>
            <a:r>
              <a:t>자주 쓰는 명령어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대화형 모드 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/init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프로젝트에 CLAUDE.md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/rc  또는  /remote-control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Remote Control 활성화 (NEW!)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/config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설정 변경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claude remote-control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쉘에서 직접 원격 제어 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onsolas"/>
              </a:defRPr>
            </a:pPr>
            <a:r>
              <a:t>claude --model opus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모델 지정하여 실행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Claude Desktop &amp; Cowork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635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Claude Desktop (데스크톱 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macOS / Windows 네이티브 앱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MCP 서버 연결 가능 (파일시스템, GitHub 등)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바탕화면에서 바로 실행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Web 버전과 동일한 대화 기능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로컬 파일에 쉽게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63500"/>
          </a:xfrm>
          <a:prstGeom prst="rect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Claude Cowork (업무 자동화)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macOS 전용 (Desktop 내 기능)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실제 업무 도구를 AI가 직접 조작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Pro / Max 플랜 필요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11개 공식 플러그인 지원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'컴퓨터 사용' 기능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72CF"/>
                </a:solidFill>
                <a:latin typeface="맑은 고딕"/>
              </a:defRPr>
            </a:pPr>
            <a:r>
              <a:t>Cowork 공식 플러그인 11종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53136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Apple 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이메일 읽기/작성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4284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Apple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메모 관리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5432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Apple Calendar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일정 관리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76580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Apple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할 일 관리</a:t>
            </a:r>
          </a:p>
        </p:txBody>
      </p:sp>
      <p:sp>
        <p:nvSpPr>
          <p:cNvPr id="26" name="Oval 25"/>
          <p:cNvSpPr/>
          <p:nvPr/>
        </p:nvSpPr>
        <p:spPr>
          <a:xfrm>
            <a:off x="4389120" y="453136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Notion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노트/DB 접근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494284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Google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문서 작성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0" y="535432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Google Sheets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스프레드시트</a:t>
            </a:r>
          </a:p>
        </p:txBody>
      </p:sp>
      <p:sp>
        <p:nvSpPr>
          <p:cNvPr id="35" name="Oval 34"/>
          <p:cNvSpPr/>
          <p:nvPr/>
        </p:nvSpPr>
        <p:spPr>
          <a:xfrm>
            <a:off x="4389120" y="576580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5715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Google Slides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프레젠테이션</a:t>
            </a:r>
          </a:p>
        </p:txBody>
      </p:sp>
      <p:sp>
        <p:nvSpPr>
          <p:cNvPr id="38" name="Oval 37"/>
          <p:cNvSpPr/>
          <p:nvPr/>
        </p:nvSpPr>
        <p:spPr>
          <a:xfrm>
            <a:off x="8046720" y="453136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Excel / Word / PPT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MS Office 연동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494284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Finder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파일 탐색</a:t>
            </a:r>
          </a:p>
        </p:txBody>
      </p:sp>
      <p:sp>
        <p:nvSpPr>
          <p:cNvPr id="44" name="Oval 43"/>
          <p:cNvSpPr/>
          <p:nvPr/>
        </p:nvSpPr>
        <p:spPr>
          <a:xfrm>
            <a:off x="8046720" y="5354320"/>
            <a:ext cx="101600" cy="1016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Safari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웹 브라우징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371600" cy="508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548640"/>
            <a:ext cx="1097280" cy="36576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548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NEW!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Remote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914A"/>
                </a:solidFill>
                <a:latin typeface="맑은 고딕"/>
              </a:defRPr>
            </a:pPr>
            <a:r>
              <a:t>폰에서 PC의 Claude Code를 원격 조종  |  2026년 2월 공개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560320" cy="16459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56032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228600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PC에서 Claude Code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claude remote-control</a:t>
            </a:r>
            <a:br/>
            <a:r>
              <a:t>또는 /rc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14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011680"/>
            <a:ext cx="2560320" cy="16459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2011680"/>
            <a:ext cx="2560320" cy="635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0440" y="2286000"/>
            <a:ext cx="365760" cy="36576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QR 코드 / URL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26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스페이스바로 QR 토글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14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011680"/>
            <a:ext cx="2560320" cy="16459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2011680"/>
            <a:ext cx="2560320" cy="635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2286000"/>
            <a:ext cx="365760" cy="36576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폰에서 스캔 &amp;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Claude 앱 또는 브라우저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14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011680"/>
            <a:ext cx="2560320" cy="164592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2011680"/>
            <a:ext cx="2560320" cy="635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72600" y="2286000"/>
            <a:ext cx="365760" cy="36576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어디서든 코딩!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926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파일 수정, 테스트, Git 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14A"/>
                </a:solidFill>
                <a:latin typeface="맑은 고딕"/>
              </a:defRPr>
            </a:pPr>
            <a:r>
              <a:t>보안 모델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인바운드 포트를 열지 않음 — 아웃바운드 HTTPS만 사용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모든 통신은 TLS 암호화 (Anthropic API 경유)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파일과 MCP 서버는 로컬에서만 처리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단기 수명 인증 토큰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14A"/>
                </a:solidFill>
                <a:latin typeface="맑은 고딕"/>
              </a:defRPr>
            </a:pPr>
            <a:r>
              <a:t>요구사항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Pro 또는 Max 플랜 필수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/login 으로 claude.ai 인증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Claude Code v2.1.52 이상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PC가 켜져있고 Claude Code 실행 중이어야 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제품별 비교표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828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463040"/>
            <a:ext cx="1737360" cy="64008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 AI</a:t>
            </a:r>
            <a:br/>
            <a:r>
              <a:t>(Web)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1737360" cy="64008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737360" cy="64008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Desktop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1737360" cy="64008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Cowork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463040"/>
            <a:ext cx="1737360" cy="64008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Open</a:t>
            </a:r>
            <a:br/>
            <a:r>
              <a:t>Claw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4884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99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접근 방식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14884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199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브라우저/앱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14884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199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터미널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4884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99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데스크톱 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14884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99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데스크톱 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148840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199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메신저 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24328"/>
            <a:ext cx="182880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675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대화 / 질답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624328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2675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624328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2675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624328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675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624328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675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2624328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2675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099816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150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코드 작성/수정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77440" y="3099816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3150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3099816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3150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099816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150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3099816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150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3099816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3150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575304"/>
            <a:ext cx="182880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26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파일 직접 수정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7440" y="3575304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0" y="36261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80" y="3575304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0" y="36261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3575304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6261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3575304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36261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0" y="3575304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0" y="36261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05079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101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업무 도구 연동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4050792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77440" y="4101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97680" y="4050792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7680" y="4101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4050792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4101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0" y="4050792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4101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직접 조작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58400" y="4050792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0" y="4101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스킬/MCP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4526280"/>
            <a:ext cx="182880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577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24/7 상시 운영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4526280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77440" y="4577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0" y="4526280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97680" y="4577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4526280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0" y="4577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38160" y="4526280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38160" y="4577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58400" y="4526280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0" y="4577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5001768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5052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모바일 접근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77440" y="5001768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77440" y="5052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97680" y="5001768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0" y="5052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RC로 가능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17920" y="5001768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17920" y="5052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38160" y="5001768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38160" y="5052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058400" y="5001768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58400" y="5052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메신저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5477256"/>
            <a:ext cx="182880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55280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무료 사용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377440" y="5477256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77440" y="5528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97680" y="5477256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97680" y="5528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217920" y="5477256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17920" y="5528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138160" y="5477256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38160" y="5528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058400" y="5477256"/>
            <a:ext cx="1737360" cy="45720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58400" y="55280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●(OSS)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5952744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6003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추천 대상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377440" y="5952744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77440" y="6003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입문자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97680" y="5952744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97680" y="6003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개발자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17920" y="5952744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17920" y="6003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일반 사용자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138160" y="5952744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38160" y="6003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업무 자동화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58400" y="5952744"/>
            <a:ext cx="1737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58400" y="6003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파워유저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● = 완전 지원    ○ = 부분 지원    △ = 제한적    ✕ = 미지원    RC = Remote Control    MCP = 플러그인으로 확장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371600" cy="508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OpenClaw — 실행형 AI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6"/>
                </a:solidFill>
                <a:latin typeface="맑은 고딕"/>
              </a:defRPr>
            </a:pPr>
            <a:r>
              <a:t>"웹에서 답만 받는 AI"가 아니라 "내 환경에서 실제로 일하는 AI 비서"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7432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635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6"/>
                </a:solidFill>
                <a:latin typeface="맑은 고딕"/>
              </a:defRPr>
            </a:pPr>
            <a:r>
              <a:t>자가 호스팅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내 PC/서버에서 24/7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데이터가 외부로 나가지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WSL2 Ubuntu에서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무료 오픈소스 (MIT)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011680"/>
            <a:ext cx="3474720" cy="27432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2011680"/>
            <a:ext cx="3474720" cy="635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8DEF"/>
                </a:solidFill>
                <a:latin typeface="맑은 고딕"/>
              </a:defRPr>
            </a:pPr>
            <a:r>
              <a:t>메신저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WhatsApp / Telegram /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Discord / iMessage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카카오톡 (브릿지로 연동)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어디서든 메시지로 AI 지시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011680"/>
            <a:ext cx="3474720" cy="27432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2011680"/>
            <a:ext cx="347472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맑은 고딕"/>
              </a:defRPr>
            </a:pPr>
            <a:r>
              <a:t>실제 작업 수행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파일 정리 / 문서 요약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브라우저 자동화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크론 스케줄 자동화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이메일 분류 / 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56"/>
                </a:solidFill>
                <a:latin typeface="맑은 고딕"/>
              </a:defRPr>
            </a:pPr>
            <a:r>
              <a:t>기본 아키텍처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7B"/>
                </a:solidFill>
                <a:latin typeface="Consolas"/>
              </a:defRPr>
            </a:pPr>
            <a:r>
              <a:t>Gateway (포트 18789)  →  Agent (Claude Sonnet 4.6)  →  채널 (WhatsApp/Telegram)  →  사용자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Consolas"/>
              </a:defRPr>
            </a:pPr>
            <a:r>
              <a:t>빠른 시작:  npm install -g openclaw@latest  →  npx openclaw onboard --install-daemon  →  npx openclaw tui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OpenClaw + 카카오톡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914A"/>
                </a:solidFill>
                <a:latin typeface="맑은 고딕"/>
              </a:defRPr>
            </a:pPr>
            <a:r>
              <a:t>github.com/tornado1014/openclaw-kakao  |  BlueStacks 기반 브릿지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926080" cy="164592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BlueStacks 5</a:t>
            </a:r>
            <a:br/>
            <a:r>
              <a:t>KakaoTalk</a:t>
            </a:r>
            <a:br/>
            <a:r>
              <a:t>+ MessengerBotR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2926080" cy="164592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Bridge Server</a:t>
            </a:r>
            <a:br/>
            <a:r>
              <a:t>(Node.js)</a:t>
            </a:r>
            <a:br/>
            <a:r>
              <a:t>포트: 8787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2926080" cy="164592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OpenClaw</a:t>
            </a:r>
            <a:br/>
            <a:r>
              <a:t>Gateway</a:t>
            </a:r>
            <a:br/>
            <a:r>
              <a:t>(Claude 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A775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A775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840480"/>
            <a:ext cx="2926080" cy="64008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ADB Watcher (Python) — 이미지 자동 감지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5303520" cy="63500"/>
          </a:xfrm>
          <a:prstGeom prst="rect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사용 가능한 명령어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/ping — 봇 상태 확인    /status — 시스템 상태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/clear — 세션 리셋       /help — 도움말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/질문 &lt;메시지&gt; — 그룹채팅에서 AI 질문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1:1 채팅은 바로 메시지 → AI 응답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75488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754880"/>
            <a:ext cx="5486400" cy="6350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83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주의사항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반드시 카카오톡 부계정 사용 (본계정 정지 위험)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BlueStacks ADB 디버깅 활성화 필수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이미지 분석: 카톡 '사진 자동 다운로드' 켜기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Node.js 18+ / Python 3.8+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자동화 활용 — 입문자 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  <a:latin typeface="맑은 고딕"/>
              </a:defRPr>
            </a:pPr>
            <a:r>
              <a:t>오늘 바로 시작할 수 있는 자동화 3가지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아침 브리핑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매일 아침 일정 + 날씨 + 할 일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35661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B0"/>
                </a:solidFill>
                <a:latin typeface="Consolas"/>
              </a:defRPr>
            </a:pPr>
            <a:r>
              <a:t>openclaw cron add \</a:t>
            </a:r>
            <a:br/>
            <a:r>
              <a:t>  --name "morning-briefing" \</a:t>
            </a:r>
            <a:br/>
            <a:r>
              <a:t>  --schedule "0 8 * * *" \</a:t>
            </a:r>
            <a:br/>
            <a:r>
              <a:t>  --message "오늘 일정과 할 일 정리해줘" \</a:t>
            </a:r>
            <a:br/>
            <a:r>
              <a:t>  --session isolated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1737360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리마인더 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중요한 일정 / 운동 / 약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651760"/>
            <a:ext cx="35661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B0"/>
                </a:solidFill>
                <a:latin typeface="Consolas"/>
              </a:defRPr>
            </a:pPr>
            <a:r>
              <a:t>openclaw cron add \</a:t>
            </a:r>
            <a:br/>
            <a:r>
              <a:t>  --name "exercise-reminder" \</a:t>
            </a:r>
            <a:br/>
            <a:r>
              <a:t>  --schedule "0 19 * * *" \</a:t>
            </a:r>
            <a:br/>
            <a:r>
              <a:t>  --message "오늘 운동했나요? 30분만 걸어요!" \</a:t>
            </a:r>
            <a:br/>
            <a:r>
              <a:t>  --session isolated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뉴스 요약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관심 분야 뉴스를 매일 클리핑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51760"/>
            <a:ext cx="356616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B0"/>
                </a:solidFill>
                <a:latin typeface="Consolas"/>
              </a:defRPr>
            </a:pPr>
            <a:r>
              <a:t>openclaw cron add \</a:t>
            </a:r>
            <a:br/>
            <a:r>
              <a:t>  --name "news-digest" \</a:t>
            </a:r>
            <a:br/>
            <a:r>
              <a:t>  --schedule "0 9 * * 1-5" \</a:t>
            </a:r>
            <a:br/>
            <a:r>
              <a:t>  --message "AI/테크 최신 뉴스 3개 요약해줘" \</a:t>
            </a:r>
            <a:br/>
            <a:r>
              <a:t>  --session isolated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7756"/>
                </a:solidFill>
                <a:latin typeface="맑은 고딕"/>
              </a:defRPr>
            </a:pPr>
            <a:r>
              <a:t>Tip: --session isolated 를 항상 사용하세요!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세션을 격리하면 컨텍스트가 누적되지 않아 비용을 절약하고, 각 작업이 깨끗한 상태에서 시작됩니다.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71600" cy="508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자동화 활용 — 중급/고급 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8DEF"/>
                </a:solidFill>
                <a:latin typeface="맑은 고딕"/>
              </a:defRPr>
            </a:pPr>
            <a:r>
              <a:t>중급 자동화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79600"/>
            <a:ext cx="127000" cy="12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8DEF"/>
                </a:solidFill>
                <a:latin typeface="맑은 고딕"/>
              </a:defRPr>
            </a:pPr>
            <a:r>
              <a:t>Webhook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GitHub PR → OpenClaw 코드 리뷰 → Slack 알림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19680"/>
            <a:ext cx="127000" cy="1270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맑은 고딕"/>
              </a:defRPr>
            </a:pPr>
            <a:r>
              <a:t>멀티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역할별 에이전트 분리 (고객응대/마케팅/개인)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59760"/>
            <a:ext cx="127000" cy="1270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72CF"/>
                </a:solidFill>
                <a:latin typeface="맑은 고딕"/>
              </a:defRPr>
            </a:pPr>
            <a:r>
              <a:t>이메일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중요 메일 감지 → 알림 + 요약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14A"/>
                </a:solidFill>
                <a:latin typeface="맑은 고딕"/>
              </a:defRPr>
            </a:pPr>
            <a:r>
              <a:t>고급 자동화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39920"/>
            <a:ext cx="127000" cy="12700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14A"/>
                </a:solidFill>
                <a:latin typeface="맑은 고딕"/>
              </a:defRPr>
            </a:pPr>
            <a:r>
              <a:t>ClawDeck 대시보드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모든 에이전트를 한 화면에서 모니터링/관리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988560"/>
            <a:ext cx="127000" cy="12700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A7756"/>
                </a:solidFill>
                <a:latin typeface="맑은 고딕"/>
              </a:defRPr>
            </a:pPr>
            <a:r>
              <a:t>브라우저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경쟁사 가격 모니터링, 데이터 수집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537200"/>
            <a:ext cx="127000" cy="1270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맑은 고딕"/>
              </a:defRPr>
            </a:pPr>
            <a:r>
              <a:t>Ollama 로컬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민감 데이터는 로컬 AI로, 복잡한 작업은 Claude로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6085839"/>
            <a:ext cx="127000" cy="1270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8DEF"/>
                </a:solidFill>
                <a:latin typeface="맑은 고딕"/>
              </a:defRPr>
            </a:pPr>
            <a:r>
              <a:t>Custom Skill 개발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6035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나만의 스킬 만들어 ClawHub에 공유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371600"/>
            <a:ext cx="4754880" cy="201168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7756"/>
                </a:solidFill>
                <a:latin typeface="맑은 고딕"/>
              </a:defRPr>
            </a:pPr>
            <a:r>
              <a:t>모델 역할 분리 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onsolas"/>
              </a:defRPr>
            </a:pPr>
            <a:r>
              <a:t>Opus 4.6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복잡한 분석/코딩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1920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14A"/>
                </a:solidFill>
                <a:latin typeface="맑은 고딕"/>
              </a:defRPr>
            </a:pPr>
            <a:r>
              <a:t>$$$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267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onsolas"/>
              </a:defRPr>
            </a:pPr>
            <a:r>
              <a:t>Sonnet 4.6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일반 대화/응대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14A"/>
                </a:solidFill>
                <a:latin typeface="맑은 고딕"/>
              </a:defRPr>
            </a:pPr>
            <a:r>
              <a:t>$$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onsolas"/>
              </a:defRPr>
            </a:pPr>
            <a:r>
              <a:t>Haiku 4.5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간단 분류/요약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26151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14A"/>
                </a:solidFill>
                <a:latin typeface="맑은 고딕"/>
              </a:defRPr>
            </a:pPr>
            <a: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9626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  <a:latin typeface="Consolas"/>
              </a:defRPr>
            </a:pPr>
            <a:r>
              <a:t>Ollama (로컬)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개인정보 민감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914A"/>
                </a:solidFill>
                <a:latin typeface="맑은 고딕"/>
              </a:defRPr>
            </a:pPr>
            <a:r>
              <a:t>무료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결합 활용 맵 — 모든 것을 연결하기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743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762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맑은 고딕"/>
              </a:defRPr>
            </a:pPr>
            <a:r>
              <a:t>프로젝트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Claude Code로 코딩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Remote Control로 외출 중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GitHub PR 자동 리뷰 (Webhook)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381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Slack으로 빌드 결과 알림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2468880" cy="109728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7B"/>
                </a:solidFill>
                <a:latin typeface="맑은 고딕"/>
              </a:defRPr>
            </a:pPr>
            <a:r>
              <a:t>사용 도구: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C9B0"/>
                </a:solidFill>
                <a:latin typeface="맑은 고딕"/>
              </a:defRPr>
            </a:pPr>
            <a:r>
              <a:t>Claude Code</a:t>
            </a:r>
            <a:br/>
            <a:r>
              <a:t>+ Remote Control</a:t>
            </a:r>
            <a:br/>
            <a:r>
              <a:t>+ OpenClaw Webhook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63040"/>
            <a:ext cx="2743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1463040"/>
            <a:ext cx="2743200" cy="762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8DEF"/>
                </a:solidFill>
                <a:latin typeface="맑은 고딕"/>
              </a:defRPr>
            </a:pPr>
            <a:r>
              <a:t>고객 응대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WhatsApp/카톡으로 고객 문의 수신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AI가 1차 응답 (다국어 지원)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복잡한 문의 → 이메일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4381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ClawDeck에서 응대 현황 모니터링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114800"/>
            <a:ext cx="2468880" cy="109728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7B"/>
                </a:solidFill>
                <a:latin typeface="맑은 고딕"/>
              </a:defRPr>
            </a:pPr>
            <a:r>
              <a:t>사용 도구: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434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8DEF"/>
                </a:solidFill>
                <a:latin typeface="맑은 고딕"/>
              </a:defRPr>
            </a:pPr>
            <a:r>
              <a:t>OpenClaw</a:t>
            </a:r>
            <a:br/>
            <a:r>
              <a:t>+ 카카오톡 브릿지</a:t>
            </a:r>
            <a:br/>
            <a:r>
              <a:t>+ ClawDeck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2743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2743200" cy="762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72CF"/>
                </a:solidFill>
                <a:latin typeface="맑은 고딕"/>
              </a:defRPr>
            </a:pPr>
            <a:r>
              <a:t>마케팅 &amp; SNS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주 3회 콘텐츠 아이디어 자동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해시태그 &amp; 캡션 초안 작성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트렌드 분석 (Brave Search)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381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Notion에 콘텐츠 캘린더 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114800"/>
            <a:ext cx="2468880" cy="109728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7B"/>
                </a:solidFill>
                <a:latin typeface="맑은 고딕"/>
              </a:defRPr>
            </a:pPr>
            <a:r>
              <a:t>사용 도구: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34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72CF"/>
                </a:solidFill>
                <a:latin typeface="맑은 고딕"/>
              </a:defRPr>
            </a:pPr>
            <a:r>
              <a:t>OpenClaw Cron</a:t>
            </a:r>
            <a:br/>
            <a:r>
              <a:t>+ Web Search</a:t>
            </a:r>
            <a:br/>
            <a:r>
              <a:t>+ MCP (Notion)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463040"/>
            <a:ext cx="2743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1463040"/>
            <a:ext cx="2743200" cy="762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914A"/>
                </a:solidFill>
                <a:latin typeface="맑은 고딕"/>
              </a:defRPr>
            </a:pPr>
            <a:r>
              <a:t>학습 &amp; 연구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논문/자료 자동 요약 (PDF)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670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과제 마감 리마인더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학습 계획 자동 수립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4381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  질문 → Claude로 즉시 답변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60" y="4114800"/>
            <a:ext cx="2468880" cy="1097280"/>
          </a:xfrm>
          <a:prstGeom prst="round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7B"/>
                </a:solidFill>
                <a:latin typeface="맑은 고딕"/>
              </a:defRPr>
            </a:pPr>
            <a:r>
              <a:t>사용 도구: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4434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914A"/>
                </a:solidFill>
                <a:latin typeface="맑은 고딕"/>
              </a:defRPr>
            </a:pPr>
            <a:r>
              <a:t>Claude.ai</a:t>
            </a:r>
            <a:br/>
            <a:r>
              <a:t>+ OpenClaw Cron</a:t>
            </a:r>
            <a:br/>
            <a:r>
              <a:t>+ Telegram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852160"/>
            <a:ext cx="11430000" cy="7315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A7756"/>
                </a:solidFill>
                <a:latin typeface="맑은 고딕"/>
              </a:defRPr>
            </a:pPr>
            <a:r>
              <a:t>핵심: 하나의 도구가 아닌, 여러 도구를 조합하여 나만의 AI 워크플로를 구축하세요!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71600" cy="508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프롬프트 팁 &amp; 베스트 프랙티스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맑은 고딕"/>
              </a:defRPr>
            </a:pPr>
            <a:r>
              <a:t>DO — 이렇게 하세요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7104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구체적인 역할을 부여하세요: "너는 고객 응대 전문가야"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2824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출력 형식을 지정하세요: "표 형태로 정리해줘"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8544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단계별로 요청하세요: "먼저 분석하고, 그 다음 제안해줘"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4264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예시를 제공하세요: "이런 형태로 만들어줘: [예시]"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9984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CLAUDE.md / AGENTS.md에 지시사항을 저장하세요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5050"/>
                </a:solidFill>
                <a:latin typeface="맑은 고딕"/>
              </a:defRPr>
            </a:pPr>
            <a:r>
              <a:t>DON'T — 피해야 할 것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97104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너무 모호한 요청: "뭔가 좋은 거 만들어줘"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42824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한 번에 너무 많은 것을 요청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88544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중요한 작업을 검증 없이 자동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34264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API 키나 비밀번호를 프롬프트에 포함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79984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크론을 너무 자주 설정 (비용 폭증)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14A"/>
                </a:solidFill>
                <a:latin typeface="맑은 고딕"/>
              </a:defRPr>
            </a:pPr>
            <a:r>
              <a:t>OpenClaw Workspace 프롬프트 파일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Consolas"/>
              </a:defRPr>
            </a:pPr>
            <a:r>
              <a:t>AGENTS.md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핵심 행동 규칙 &amp; 안전 지침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"고객에게 가격 할인 약속 금지"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Consolas"/>
              </a:defRPr>
            </a:pPr>
            <a:r>
              <a:t>SOUL.md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성격 &amp; 커뮤니케이션 스타일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"따뜻하고 전문적, 이모지 적절히"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Consolas"/>
              </a:defRPr>
            </a:pPr>
            <a:r>
              <a:t>MEMORY.md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장기 기억 (프로젝트, 선호도)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"Bella는 한/중/영 3개 국어 사용"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  <a:latin typeface="Consolas"/>
              </a:defRPr>
            </a:pPr>
            <a:r>
              <a:t>HEARTBEAT.md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자동 체크리스트 &amp; 긴급도 분류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3A4A"/>
                </a:solidFill>
                <a:latin typeface="맑은 고딕"/>
              </a:defRPr>
            </a:pPr>
            <a:r>
              <a:t>"20분 무응답 시 이메일 발송"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비용 비교 &amp; 시작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6"/>
                </a:solidFill>
                <a:latin typeface="맑은 고딕"/>
              </a:defRPr>
            </a:pPr>
            <a:r>
              <a:t>Claude 구독 플랜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63500"/>
          </a:xfrm>
          <a:prstGeom prst="roundRect">
            <a:avLst/>
          </a:prstGeom>
          <a:solidFill>
            <a:srgbClr val="6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7B"/>
                </a:solidFill>
                <a:latin typeface="맑은 고딕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기본 대화, 제한적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635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8DEF"/>
                </a:solidFill>
                <a:latin typeface="맑은 고딕"/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$20/월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5x 사용량, Remote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828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1828800"/>
            <a:ext cx="237744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맑은 고딕"/>
              </a:defRPr>
            </a:pPr>
            <a:r>
              <a:t>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$100/월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20x 사용량, Claude Code 포함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799" y="1828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799" y="1828800"/>
            <a:ext cx="2377440" cy="635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79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72CF"/>
                </a:solidFill>
                <a:latin typeface="맑은 고딕"/>
              </a:defRPr>
            </a:pPr>
            <a:r>
              <a:t>Max+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9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$200/월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79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무제한에 가까운 사용량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6"/>
                </a:solidFill>
                <a:latin typeface="맑은 고딕"/>
              </a:defRPr>
            </a:pPr>
            <a:r>
              <a:t>OpenClaw 운영 비용 (별도)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439920"/>
            <a:ext cx="101600" cy="1016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OpenClaw 자체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맑은 고딕"/>
              </a:defRPr>
            </a:pPr>
            <a:r>
              <a:t>무료 (오픈소스)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851400"/>
            <a:ext cx="101600" cy="1016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라이트 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  <a:latin typeface="맑은 고딕"/>
              </a:defRPr>
            </a:pPr>
            <a:r>
              <a:t>$10~20/월 (API)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262880"/>
            <a:ext cx="101600" cy="10160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중간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14A"/>
                </a:solidFill>
                <a:latin typeface="맑은 고딕"/>
              </a:defRPr>
            </a:pPr>
            <a:r>
              <a:t>$30~50/월 (API)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5674360"/>
            <a:ext cx="101600" cy="101600"/>
          </a:xfrm>
          <a:prstGeom prst="ellipse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헤비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050"/>
                </a:solidFill>
                <a:latin typeface="맑은 고딕"/>
              </a:defRPr>
            </a:pPr>
            <a:r>
              <a:t>$100+/월 (API)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84048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840480"/>
            <a:ext cx="50292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069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비용 절약 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48056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--session isolated 항상 사용 (컨텍스트 누적 방지)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간단한 작업은 Haiku 모델 사용 (10배 저렴)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크론 최소 간격 1시간 이상 유지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작업 완료 시 세션 리셋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6B7B"/>
                </a:solidFill>
                <a:latin typeface="맑은 고딕"/>
              </a:defRPr>
            </a:pPr>
            <a:r>
              <a:t>  민감 데이터는 Ollama 로컬 모델 (무료)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371600" cy="508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맑은 고딕"/>
              </a:defRPr>
            </a:pPr>
            <a:r>
              <a:t>오늘부터 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6350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계정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91640"/>
            <a:ext cx="822960" cy="32004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5분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claude.ai 가입 → Pro 이상 구독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Claude Code 설치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691640"/>
            <a:ext cx="822960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10분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npm install -g @anthropic-ai/claude-code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3566160" cy="6350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E8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Remote Control 설정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98480" y="1691640"/>
            <a:ext cx="822960" cy="320040"/>
          </a:xfrm>
          <a:prstGeom prst="roundRect">
            <a:avLst/>
          </a:prstGeom>
          <a:solidFill>
            <a:srgbClr val="E89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5분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/login → /rc → 폰으로 스캔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3566160" cy="635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OpenClaw 설치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251960"/>
            <a:ext cx="822960" cy="32004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251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30분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npm install -g openclaw@latest</a:t>
            </a:r>
            <a:br/>
            <a:r>
              <a:t>npx openclaw onboard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931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97680" y="3931920"/>
            <a:ext cx="3566160" cy="6350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첫 자동화 설정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251960"/>
            <a:ext cx="822960" cy="320040"/>
          </a:xfrm>
          <a:prstGeom prst="roundRect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251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아침 브리핑 크론 등록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3931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8160" y="3931920"/>
            <a:ext cx="3566160" cy="6350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맑은 고딕"/>
              </a:defRPr>
            </a:pPr>
            <a:r>
              <a:t>확장하기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98480" y="4251960"/>
            <a:ext cx="822960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0" y="4251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계속!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멀티 에이전트, 카카오톡, Webhook...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2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731520" cy="63500"/>
          </a:xfrm>
          <a:prstGeom prst="roundRect">
            <a:avLst/>
          </a:prstGeom>
          <a:solidFill>
            <a:srgbClr val="DA7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AI는 도구입니다.</a:t>
            </a:r>
            <a:br/>
            <a:r>
              <a:t>어떻게 조합하느냐가 실력입니다.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A7756"/>
                </a:solidFill>
                <a:latin typeface="맑은 고딕"/>
              </a:defRPr>
            </a:pPr>
            <a:r>
              <a:t>Claude AI + Claude Code + Remote Control + OpenClaw</a:t>
            </a:r>
            <a:br/>
            <a:r>
              <a:t>= 언제 어디서나 일하는 나만의 AI 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7589520" cy="1371600"/>
          </a:xfrm>
          <a:prstGeom prst="roundRect">
            <a:avLst/>
          </a:prstGeom>
          <a:solidFill>
            <a:srgbClr val="2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6634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A7756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claude.ai — Claude AI 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code.claude.com/docs — Claude Code 공식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577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docs.openclaw.ai — OpenClaw 공식 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8521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7B"/>
                </a:solidFill>
                <a:latin typeface="맑은 고딕"/>
              </a:defRPr>
            </a:pPr>
            <a:r>
              <a:t>github.com/tornado1014/openclaw-kakao — 카카오톡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7B"/>
                </a:solidFill>
                <a:latin typeface="맑은 고딕"/>
              </a:defRPr>
            </a:pPr>
            <a:r>
              <a:t>Made with Claude Opus 4.6 by Bella (OZKIZ)  |  2026-02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